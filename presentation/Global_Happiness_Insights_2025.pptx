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2a5d565994351" /><Relationship Type="http://schemas.openxmlformats.org/officeDocument/2006/relationships/extended-properties" Target="/docProps/app.xml" Id="R9323a61306f04680" /><Relationship Type="http://schemas.openxmlformats.org/officeDocument/2006/relationships/officeDocument" Target="/ppt/presentation.xml" Id="Rf1d52a59dd6841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7f3d74de347d5"/>
  </p:sldMasterIdLst>
  <p:notesMasterIdLst>
    <p:notesMasterId xmlns:r="http://schemas.openxmlformats.org/officeDocument/2006/relationships" r:id="Rf9bf7b2d11534231"/>
  </p:notesMasterIdLst>
  <p:sldIdLst>
    <p:sldId xmlns:r="http://schemas.openxmlformats.org/officeDocument/2006/relationships" id="256" r:id="Re57b6fd9691046c4"/>
    <p:sldId xmlns:r="http://schemas.openxmlformats.org/officeDocument/2006/relationships" id="257" r:id="R144c9a11d9b74225"/>
    <p:sldId xmlns:r="http://schemas.openxmlformats.org/officeDocument/2006/relationships" id="258" r:id="R69cffcb8c7c745a6"/>
    <p:sldId xmlns:r="http://schemas.openxmlformats.org/officeDocument/2006/relationships" id="259" r:id="R53b783945c844600"/>
    <p:sldId xmlns:r="http://schemas.openxmlformats.org/officeDocument/2006/relationships" id="260" r:id="Reeedddca866b4420"/>
    <p:sldId xmlns:r="http://schemas.openxmlformats.org/officeDocument/2006/relationships" id="261" r:id="R0389a0744a1242a8"/>
    <p:sldId xmlns:r="http://schemas.openxmlformats.org/officeDocument/2006/relationships" id="262" r:id="Re2f6b1189ff04ddd"/>
    <p:sldId xmlns:r="http://schemas.openxmlformats.org/officeDocument/2006/relationships" id="263" r:id="Rdb0a95040db94547"/>
    <p:sldId xmlns:r="http://schemas.openxmlformats.org/officeDocument/2006/relationships" id="264" r:id="Rd6650a7b83f34fa8"/>
    <p:sldId xmlns:r="http://schemas.openxmlformats.org/officeDocument/2006/relationships" id="265" r:id="R2e392255efc84d89"/>
    <p:sldId xmlns:r="http://schemas.openxmlformats.org/officeDocument/2006/relationships" id="266" r:id="R1f269a07923d4a41"/>
    <p:sldId xmlns:r="http://schemas.openxmlformats.org/officeDocument/2006/relationships" id="267" r:id="R212ac43f07414a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07d85e94044be7" /><Relationship Type="http://schemas.openxmlformats.org/officeDocument/2006/relationships/slideMaster" Target="/ppt/slideMasters/slideMaster1.xml" Id="R97e7f3d74de347d5" /><Relationship Type="http://schemas.openxmlformats.org/officeDocument/2006/relationships/notesMaster" Target="/ppt/notesMasters/notesMaster1.xml" Id="Rf9bf7b2d11534231" /><Relationship Type="http://schemas.openxmlformats.org/officeDocument/2006/relationships/presProps" Target="/ppt/presProps.xml" Id="R360b2ffd4ee14365" /><Relationship Type="http://schemas.openxmlformats.org/officeDocument/2006/relationships/tableStyles" Target="/ppt/tableStyles.xml" Id="Ree5568181e254665" /><Relationship Type="http://schemas.openxmlformats.org/officeDocument/2006/relationships/slide" Target="/ppt/slides/slide1.xml" Id="Re57b6fd9691046c4" /><Relationship Type="http://schemas.openxmlformats.org/officeDocument/2006/relationships/slide" Target="/ppt/slides/slide2.xml" Id="R144c9a11d9b74225" /><Relationship Type="http://schemas.openxmlformats.org/officeDocument/2006/relationships/slide" Target="/ppt/slides/slide3.xml" Id="R69cffcb8c7c745a6" /><Relationship Type="http://schemas.openxmlformats.org/officeDocument/2006/relationships/slide" Target="/ppt/slides/slide4.xml" Id="R53b783945c844600" /><Relationship Type="http://schemas.openxmlformats.org/officeDocument/2006/relationships/slide" Target="/ppt/slides/slide5.xml" Id="Reeedddca866b4420" /><Relationship Type="http://schemas.openxmlformats.org/officeDocument/2006/relationships/slide" Target="/ppt/slides/slide6.xml" Id="R0389a0744a1242a8" /><Relationship Type="http://schemas.openxmlformats.org/officeDocument/2006/relationships/slide" Target="/ppt/slides/slide7.xml" Id="Re2f6b1189ff04ddd" /><Relationship Type="http://schemas.openxmlformats.org/officeDocument/2006/relationships/slide" Target="/ppt/slides/slide8.xml" Id="Rdb0a95040db94547" /><Relationship Type="http://schemas.openxmlformats.org/officeDocument/2006/relationships/slide" Target="/ppt/slides/slide9.xml" Id="Rd6650a7b83f34fa8" /><Relationship Type="http://schemas.openxmlformats.org/officeDocument/2006/relationships/slide" Target="/ppt/slides/slide10.xml" Id="R2e392255efc84d89" /><Relationship Type="http://schemas.openxmlformats.org/officeDocument/2006/relationships/slide" Target="/ppt/slides/slide11.xml" Id="R1f269a07923d4a41" /><Relationship Type="http://schemas.openxmlformats.org/officeDocument/2006/relationships/slide" Target="/ppt/slides/slide12.xml" Id="R212ac43f07414a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327bf75f6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23ff9a103470e" /><Relationship Type="http://schemas.openxmlformats.org/officeDocument/2006/relationships/notesMaster" Target="/ppt/notesMasters/notesMaster1.xml" Id="R6cb8cae0407d48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5cd35697b0412f" /><Relationship Type="http://schemas.openxmlformats.org/officeDocument/2006/relationships/notesMaster" Target="/ppt/notesMasters/notesMaster1.xml" Id="R1efc940aa9564f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9e74184f34d2c" /><Relationship Type="http://schemas.openxmlformats.org/officeDocument/2006/relationships/notesMaster" Target="/ppt/notesMasters/notesMaster1.xml" Id="Rf9b64ae52a17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b3ab9d7df4227" /><Relationship Type="http://schemas.openxmlformats.org/officeDocument/2006/relationships/notesMaster" Target="/ppt/notesMasters/notesMaster1.xml" Id="R533fb5a2e88b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72e3f11ad64209" /><Relationship Type="http://schemas.openxmlformats.org/officeDocument/2006/relationships/notesMaster" Target="/ppt/notesMasters/notesMaster1.xml" Id="R5a5c7a436eb2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f099d19db04b65" /><Relationship Type="http://schemas.openxmlformats.org/officeDocument/2006/relationships/notesMaster" Target="/ppt/notesMasters/notesMaster1.xml" Id="Rb724efab2f9844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40c2ccf2c4319" /><Relationship Type="http://schemas.openxmlformats.org/officeDocument/2006/relationships/notesMaster" Target="/ppt/notesMasters/notesMaster1.xml" Id="Rb18ec20b134149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259712c7d74e71" /><Relationship Type="http://schemas.openxmlformats.org/officeDocument/2006/relationships/notesMaster" Target="/ppt/notesMasters/notesMaster1.xml" Id="Re3894f8e657a40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052c168e7a464a" /><Relationship Type="http://schemas.openxmlformats.org/officeDocument/2006/relationships/notesMaster" Target="/ppt/notesMasters/notesMaster1.xml" Id="R21a95990dc9349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d036bd03464a99" /><Relationship Type="http://schemas.openxmlformats.org/officeDocument/2006/relationships/notesMaster" Target="/ppt/notesMasters/notesMaster1.xml" Id="Rf99f11e2843049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924e92c7ed4710" /><Relationship Type="http://schemas.openxmlformats.org/officeDocument/2006/relationships/notesMaster" Target="/ppt/notesMasters/notesMaster1.xml" Id="R21bb14e2dd7749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cc2a1ccefb4628" /><Relationship Type="http://schemas.openxmlformats.org/officeDocument/2006/relationships/notesMaster" Target="/ppt/notesMasters/notesMaster1.xml" Id="R4957fe9db691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official source documents the ranking period and report context. The file itself has no year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p-values are two-sided tests as returned by SciPy. Each factor uses its own complete-case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user-supplied WHR_2025.xls, sheet Sheet1. Analysis results were calculated by this reconstructed project and are not claimed to reproduce the original internship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World Happiness Report 2025, Country Rankings and Figure 2.1 (Gallup World Poll, 2022–2024): https://files.worldhappiness.report/WHR25.pdf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6bcb4456c44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9c7a5241042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a8146f6464a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a5032660c41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c4f16f3b440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54176fb7e4c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5BD0-94B7-4AE4-A6A2-E77CD6FED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63FE14-6336-42DD-8A15-45583222E0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9B4F6F-8836-4EDC-99AB-53F6CA4CD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51D789-1094-4A70-8EA4-ED17FD4D2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AF1A4A-FBA5-464B-9E85-A0D7327321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7C9F16-2DD2-4CEE-81CA-F7A3C072F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EEB231-811B-4DCB-A421-7D614695CC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499CEA-76A1-48E5-917F-C2849BB38C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DD867-50F6-4769-AF9D-5F8497E6A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539116-D447-4CBA-8A81-C3F00F658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02257294344835" /><Relationship Type="http://schemas.openxmlformats.org/officeDocument/2006/relationships/slideLayout" Target="/ppt/slideLayouts/slideLayout1.xml" Id="R1e2cedf216234e57" /><Relationship Type="http://schemas.openxmlformats.org/officeDocument/2006/relationships/slideLayout" Target="/ppt/slideLayouts/slideLayout2.xml" Id="Rdd0ab492189d453c" /><Relationship Type="http://schemas.openxmlformats.org/officeDocument/2006/relationships/slideLayout" Target="/ppt/slideLayouts/slideLayout3.xml" Id="Rfa08fa9c14b049ca" /><Relationship Type="http://schemas.openxmlformats.org/officeDocument/2006/relationships/slideLayout" Target="/ppt/slideLayouts/slideLayout4.xml" Id="R45c5962b58bd45c0" /><Relationship Type="http://schemas.openxmlformats.org/officeDocument/2006/relationships/slideLayout" Target="/ppt/slideLayouts/slideLayout5.xml" Id="Rb1ea264903e340f5" /><Relationship Type="http://schemas.openxmlformats.org/officeDocument/2006/relationships/slideLayout" Target="/ppt/slideLayouts/slideLayout6.xml" Id="R00cca4c1290444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2cedf216234e57"/>
    <p:sldLayoutId xmlns:r="http://schemas.openxmlformats.org/officeDocument/2006/relationships" id="2147483650" r:id="Rdd0ab492189d453c"/>
    <p:sldLayoutId xmlns:r="http://schemas.openxmlformats.org/officeDocument/2006/relationships" id="2147483651" r:id="Rfa08fa9c14b049ca"/>
    <p:sldLayoutId xmlns:r="http://schemas.openxmlformats.org/officeDocument/2006/relationships" id="2147483652" r:id="R45c5962b58bd45c0"/>
    <p:sldLayoutId xmlns:r="http://schemas.openxmlformats.org/officeDocument/2006/relationships" id="2147483653" r:id="Rb1ea264903e340f5"/>
    <p:sldLayoutId xmlns:r="http://schemas.openxmlformats.org/officeDocument/2006/relationships" id="2147483654" r:id="R00cca4c1290444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fab01677245f0" /><Relationship Type="http://schemas.openxmlformats.org/officeDocument/2006/relationships/notesSlide" Target="/ppt/notesSlides/notesSlide1.xml" Id="R9daff9427046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23795335a450b" /><Relationship Type="http://schemas.openxmlformats.org/officeDocument/2006/relationships/notesSlide" Target="/ppt/notesSlides/notesSlide2.xml" Id="Rad087be2889d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6a9e3a14b47a7" /><Relationship Type="http://schemas.openxmlformats.org/officeDocument/2006/relationships/notesSlide" Target="/ppt/notesSlides/notesSlide3.xml" Id="R7a25f342ac834b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0bed1aee947e4" /><Relationship Type="http://schemas.openxmlformats.org/officeDocument/2006/relationships/notesSlide" Target="/ppt/notesSlides/notesSlide4.xml" Id="R002a264f83284b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2e17394e54d8e" /><Relationship Type="http://schemas.openxmlformats.org/officeDocument/2006/relationships/notesSlide" Target="/ppt/notesSlides/notesSlide5.xml" Id="Re19d7615f8ca45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53519a2404902" /><Relationship Type="http://schemas.openxmlformats.org/officeDocument/2006/relationships/chart" Target="/ppt/slides/charts/chart1.xml" Id="Raa892566ef4148af" /><Relationship Type="http://schemas.openxmlformats.org/officeDocument/2006/relationships/chart" Target="/ppt/slides/charts/chart2.xml" Id="R64a20e64610c473a" /><Relationship Type="http://schemas.openxmlformats.org/officeDocument/2006/relationships/notesSlide" Target="/ppt/notesSlides/notesSlide6.xml" Id="R91def111bf3f4a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00f311a4244e9" /><Relationship Type="http://schemas.openxmlformats.org/officeDocument/2006/relationships/notesSlide" Target="/ppt/notesSlides/notesSlide7.xml" Id="R307453845d4544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425de56aa46ac" /><Relationship Type="http://schemas.openxmlformats.org/officeDocument/2006/relationships/image" Target="/ppt/media/image.png" Id="Rc0ad3acdf3c744da" /><Relationship Type="http://schemas.openxmlformats.org/officeDocument/2006/relationships/notesSlide" Target="/ppt/notesSlides/notesSlide8.xml" Id="R538ba4d987e1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9a918be6a431f" /><Relationship Type="http://schemas.openxmlformats.org/officeDocument/2006/relationships/chart" Target="/ppt/slides/charts/chart3.xml" Id="R7407aeed768246b4" /><Relationship Type="http://schemas.openxmlformats.org/officeDocument/2006/relationships/notesSlide" Target="/ppt/notesSlides/notesSlide9.xml" Id="Recdd1003579b4a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03058254f48e0" /><Relationship Type="http://schemas.openxmlformats.org/officeDocument/2006/relationships/notesSlide" Target="/ppt/notesSlides/notesSlide10.xml" Id="Rd1d7bb1190ff49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8da10538d4dbb" /><Relationship Type="http://schemas.openxmlformats.org/officeDocument/2006/relationships/notesSlide" Target="/ppt/notesSlides/notesSlide11.xml" Id="R8afcb6597cae4a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fd9144afa4ade" /><Relationship Type="http://schemas.openxmlformats.org/officeDocument/2006/relationships/notesSlide" Target="/ppt/notesSlides/notesSlide12.xml" Id="Rd6161f90ee38448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324A"/>
                </a:solidFill>
              </a:rPr>
              <a:t>Top 10 countries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324A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Ladder score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Lit>
              <c:ptCount val="10"/>
              <c:pt idx="0">
                <c:v>Mexico</c:v>
              </c:pt>
              <c:pt idx="1">
                <c:v>Luxembourg</c:v>
              </c:pt>
              <c:pt idx="2">
                <c:v>Israel</c:v>
              </c:pt>
              <c:pt idx="3">
                <c:v>Norway</c:v>
              </c:pt>
              <c:pt idx="4">
                <c:v>Costa Rica</c:v>
              </c:pt>
              <c:pt idx="5">
                <c:v>Netherlands</c:v>
              </c:pt>
              <c:pt idx="6">
                <c:v>Sweden</c:v>
              </c:pt>
              <c:pt idx="7">
                <c:v>Iceland</c:v>
              </c:pt>
              <c:pt idx="8">
                <c:v>Denmark</c:v>
              </c:pt>
              <c:pt idx="9">
                <c:v>Finland</c:v>
              </c:pt>
            </c:strLit>
          </c:cat>
          <c:val>
            <c:numLit>
              <c:formatCode>General</c:formatCode>
              <c:ptCount val="10"/>
              <c:pt idx="0">
                <c:v>6.979</c:v>
              </c:pt>
              <c:pt idx="1">
                <c:v>7.122</c:v>
              </c:pt>
              <c:pt idx="2">
                <c:v>7.234</c:v>
              </c:pt>
              <c:pt idx="3">
                <c:v>7.262</c:v>
              </c:pt>
              <c:pt idx="4">
                <c:v>7.274</c:v>
              </c:pt>
              <c:pt idx="5">
                <c:v>7.306</c:v>
              </c:pt>
              <c:pt idx="6">
                <c:v>7.345</c:v>
              </c:pt>
              <c:pt idx="7">
                <c:v>7.515</c:v>
              </c:pt>
              <c:pt idx="8">
                <c:v>7.521</c:v>
              </c:pt>
              <c:pt idx="9">
                <c:v>7.736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038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48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84B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324A"/>
                </a:solidFill>
              </a:rPr>
              <a:t>Bottom 10 countries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324A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Ladder score</c:v>
          </c:tx>
          <c:spPr>
            <a:solidFill xmlns:a="http://schemas.openxmlformats.org/drawingml/2006/main">
              <a:srgbClr val="D86E50"/>
            </a:solidFill>
          </c:spPr>
          <c:invertIfNegative val="0"/>
          <c:cat>
            <c:strLit>
              <c:ptCount val="10"/>
              <c:pt idx="0">
                <c:v>Afghanistan</c:v>
              </c:pt>
              <c:pt idx="1">
                <c:v>Sierra Leone</c:v>
              </c:pt>
              <c:pt idx="2">
                <c:v>Lebanon</c:v>
              </c:pt>
              <c:pt idx="3">
                <c:v>Malawi</c:v>
              </c:pt>
              <c:pt idx="4">
                <c:v>Zimbabwe</c:v>
              </c:pt>
              <c:pt idx="5">
                <c:v>Botswana</c:v>
              </c:pt>
              <c:pt idx="6">
                <c:v>DR Congo</c:v>
              </c:pt>
              <c:pt idx="7">
                <c:v>Yemen</c:v>
              </c:pt>
              <c:pt idx="8">
                <c:v>Comoros</c:v>
              </c:pt>
              <c:pt idx="9">
                <c:v>Lesotho</c:v>
              </c:pt>
            </c:strLit>
          </c:cat>
          <c:val>
            <c:numLit>
              <c:formatCode>General</c:formatCode>
              <c:ptCount val="10"/>
              <c:pt idx="0">
                <c:v>1.364</c:v>
              </c:pt>
              <c:pt idx="1">
                <c:v>2.998</c:v>
              </c:pt>
              <c:pt idx="2">
                <c:v>3.188</c:v>
              </c:pt>
              <c:pt idx="3">
                <c:v>3.26</c:v>
              </c:pt>
              <c:pt idx="4">
                <c:v>3.396</c:v>
              </c:pt>
              <c:pt idx="5">
                <c:v>3.438</c:v>
              </c:pt>
              <c:pt idx="6">
                <c:v>3.469</c:v>
              </c:pt>
              <c:pt idx="7">
                <c:v>3.561</c:v>
              </c:pt>
              <c:pt idx="8">
                <c:v>3.754</c:v>
              </c:pt>
              <c:pt idx="9">
                <c:v>3.757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038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48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84B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324A"/>
                </a:solidFill>
              </a:rPr>
              <a:t>Mean report components by ranking group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324A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Top 10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Lit>
              <c:ptCount val="6"/>
              <c:pt idx="0">
                <c:v>GDP per capita</c:v>
              </c:pt>
              <c:pt idx="1">
                <c:v>Social support</c:v>
              </c:pt>
              <c:pt idx="2">
                <c:v>Healthy life expectancy</c:v>
              </c:pt>
              <c:pt idx="3">
                <c:v>Freedom to make life choices</c:v>
              </c:pt>
              <c:pt idx="4">
                <c:v>Generosity</c:v>
              </c:pt>
              <c:pt idx="5">
                <c:v>Perceptions of corruption</c:v>
              </c:pt>
            </c:strLit>
          </c:cat>
          <c:val>
            <c:numLit>
              <c:formatCode>0.000</c:formatCode>
              <c:ptCount val="6"/>
              <c:pt idx="0">
                <c:v>1.7529999999999997</c:v>
              </c:pt>
              <c:pt idx="1">
                <c:v>1.6852</c:v>
              </c:pt>
              <c:pt idx="2">
                <c:v>0.8030999999999999</c:v>
              </c:pt>
              <c:pt idx="3">
                <c:v>0.9183999999999999</c:v>
              </c:pt>
              <c:pt idx="4">
                <c:v>0.13699999999999998</c:v>
              </c:pt>
              <c:pt idx="5">
                <c:v>0.3225</c:v>
              </c:pt>
            </c:numLit>
          </c:val>
        </c:ser>
        <c:ser>
          <c:idx val="1"/>
          <c:order val="1"/>
          <c:tx>
            <c:v>Bottom 10</c:v>
          </c:tx>
          <c:spPr>
            <a:solidFill xmlns:a="http://schemas.openxmlformats.org/drawingml/2006/main">
              <a:srgbClr val="D86E50"/>
            </a:solidFill>
          </c:spPr>
          <c:invertIfNegative val="0"/>
          <c:cat>
            <c:strLit>
              <c:ptCount val="6"/>
              <c:pt idx="0">
                <c:v>GDP per capita</c:v>
              </c:pt>
              <c:pt idx="1">
                <c:v>Social support</c:v>
              </c:pt>
              <c:pt idx="2">
                <c:v>Healthy life expectancy</c:v>
              </c:pt>
              <c:pt idx="3">
                <c:v>Freedom to make life choices</c:v>
              </c:pt>
              <c:pt idx="4">
                <c:v>Generosity</c:v>
              </c:pt>
              <c:pt idx="5">
                <c:v>Perceptions of corruption</c:v>
              </c:pt>
            </c:strLit>
          </c:cat>
          <c:val>
            <c:numLit>
              <c:formatCode>0.000</c:formatCode>
              <c:ptCount val="6"/>
              <c:pt idx="0">
                <c:v>0.8207999999999999</c:v>
              </c:pt>
              <c:pt idx="1">
                <c:v>0.8314999999999999</c:v>
              </c:pt>
              <c:pt idx="2">
                <c:v>0.25549999999999995</c:v>
              </c:pt>
              <c:pt idx="3">
                <c:v>0.4776999999999999</c:v>
              </c:pt>
              <c:pt idx="4">
                <c:v>0.0881</c:v>
              </c:pt>
              <c:pt idx="5">
                <c:v>0.0981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2038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384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48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07486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422BA-B0F4-4EC9-A4A8-E141E3C8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68279-3F91-4D7A-A6BC-7D50E64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HAPPINESS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INSIGHTS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A673D-4666-404A-8075-481A306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7E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7E4E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4E9"/>
                </a:solidFill>
                <a:latin typeface="Arial"/>
                <a:ea typeface="Arial"/>
                <a:cs typeface="Arial"/>
              </a:rPr>
              <a:t>Country rankings, explanatory components, and an interactive exploration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3C16-FB22-4CE6-A065-9642D534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87363-3D16-4E3A-BD49-8BAEC35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7E4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7E4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4E9"/>
                </a:solidFill>
                <a:latin typeface="Arial"/>
                <a:ea typeface="Arial"/>
                <a:cs typeface="Arial"/>
              </a:rPr>
              <a:t>A reproducible data analysis using the supplied World Happiness Report workbook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8E74E-717D-4BCF-99C3-21CD58CE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4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9CB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9CB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CBD3"/>
                </a:solidFill>
                <a:latin typeface="Arial"/>
                <a:ea typeface="Arial"/>
                <a:cs typeface="Arial"/>
              </a:rPr>
              <a:t>147 countries  /  Report period 2022–2024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843C9-5523-4C33-A15B-F151941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36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9CB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9CB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BD3"/>
                </a:solidFill>
                <a:latin typeface="Arial"/>
                <a:ea typeface="Arial"/>
                <a:cs typeface="Arial"/>
              </a:rPr>
              <a:t>Repository: [add URL after publication]  ·  Author: [add name]</a:t>
            </a:r>
          </a:p>
        </p:txBody>
      </p:sp>
    </p:spTree>
    <p:extLst>
      <p:ext uri="{BB962C8B-B14F-4D97-AF65-F5344CB8AC3E}">
        <p14:creationId xmlns:p14="http://schemas.microsoft.com/office/powerpoint/2010/main" val="219773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F1EFA-6A92-409B-9E1C-BECD473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D0B6F-FBFA-4FBC-8FB9-0ADE68AA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Questions this project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A1180-742F-46A2-A8B4-37FF202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E07CC-C825-430A-A617-778987BB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C53F0-D1EA-465B-AF7A-9B056837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A clear country ranking is a starting point. The analysis also compares six report components and quantifies how they associate with Ladder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668BB-83EE-4A2B-8CD8-B3AAECC6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9B61B-DD04-47A7-9DF8-53505E6E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25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Which countries sit at the top and bottom of the 2025 ranking?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28DDC-E256-4411-AA74-52315497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9FE3E-48FC-4820-AF05-E1CB353D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909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How do Finland and India compare in rank and score?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C0CC-97A9-4A5D-A054-FFE7B64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44093-E8FF-4FD0-BD79-44B9D5D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1955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Which available factors show the strongest country-level association with Ladder score?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1183A-3067-4981-8D18-2194BB6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0FED7-3FD5-47F8-B264-B75B0A2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48200"/>
            <a:ext cx="9667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How do the top 10 and bottom 10 differ on the report components?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7C454-8FAD-4763-AEF4-6F0AD2F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Scope: descriptive analysis of 147 country aggregates. No causal effects or year-to-year trends are estimated.</a:t>
            </a:r>
          </a:p>
        </p:txBody>
      </p:sp>
    </p:spTree>
    <p:extLst>
      <p:ext uri="{BB962C8B-B14F-4D97-AF65-F5344CB8AC3E}">
        <p14:creationId xmlns:p14="http://schemas.microsoft.com/office/powerpoint/2010/main" val="1713566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BBABC-8719-4D43-8B97-D846D0A6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CADE0-9CC4-49FE-96E2-E252D5E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Dataset and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135AE-4B51-456D-979E-1B1392E6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667EA-7E71-4D60-8222-F644382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E538A-9B8C-44E6-A6E8-EE8F1701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WHR_2025.xls  ·  Sheet1  ·  147 rows  ·  11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1DC19-C7A6-4E16-8400-5D49413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The workbook contains one country-level record per country. Ladder score is the ranking measure. The six “Explained by” fields are report components used here as explanatory indicators.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01BA6-FDFC-4EF6-9EC8-C58A6A4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048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F441D-8DA4-4AA1-8AE4-751538B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KEY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53168-B600-430D-AA53-DDDBE59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8835F-8571-41DF-BE82-556F86BB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290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Country name and Ladder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9C5B0-8EB3-42DB-83B9-28268FD8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72C4B-963D-4ED8-B1CE-7E7314A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719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GDP per capita and social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D9F38-A68E-4043-83C9-3DDCCA75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DCAED-33A5-434E-BFC2-4784EB9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14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Healthy life expectancy and freedom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2B450-5BE5-4935-9066-262A0C9F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2DE8E-D8D1-40B0-BC3E-4FFE52F7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0577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Generosity and perceptions of corruption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F2F4D-D406-486A-96E5-7C5255D4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55816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FFD4F-E3C9-4732-808C-4C395E8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COVERAGE AND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F92CD-EB36-4472-AAAE-CD07740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386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The workbook has no year, region, or income-level columns. Its ranking structure and values align with the report’s 2022–2024 country ranking.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90BD5-F7CA-4765-B5B7-8396D21A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958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Source: World Happiness Report 2025, Figure 2.1, Gallup World Poll 2022–2024. Citation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500270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D4B60-477A-42E9-BA02-3F8D03B0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75F86-C6DA-4DE9-AAFE-D406A197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Data cleaning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10B32-1554-44E8-A175-8F6C66B6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ED942-585C-4659-93E6-86C95DB0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1EC38-C8FC-4CBE-A550-C9CA3F0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147 → 147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0226F-D1FA-41B5-9C9C-2E7B04F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Rows retained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803E7-43B1-42F4-B578-96D1BCA4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764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5D125-1489-4897-BB59-EB99AF4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76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Duplicate countries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5CC77-ADBF-4C48-A93D-A5A2BBB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764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No imputation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BE6F4-5FE1-4601-BF54-9735145D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764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Missing values kept as 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B11C2-D224-49F7-8722-327F105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048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0BB18-3D92-4370-BEE7-BFE1AFE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VALIDATION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E2A34-ED10-41FA-A2F5-96A6E0C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57CEF-79D2-4E4D-82CD-7F14F076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57600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Required country and Ladder score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AD513-E145-4969-BD7E-B4BAF47E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AC457-B6D8-42B8-A495-49E4DA8C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2907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Numeric types for all source indicator columns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589FC-771D-40DF-AF68-5817DB0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83A5B-F5EB-48A9-B121-0D25FD0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00550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Unique, nonempty country names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40C7A-D8FD-457D-A5EC-54BFFBF5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F86B4-99A2-4342-AE7D-262A4BFE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7202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Finite Ladder scores within 0–10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02A1D-99C9-4C4C-BF1D-498EDCF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67050"/>
            <a:ext cx="55816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AD232-D6BD-4909-9660-255378A2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76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SOURCE MISSING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42E0E-9848-43D7-B2D0-4FFF897A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4FFCE-7E60-4036-86D0-8E273A4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5760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Explained by: Healthy life expectancy: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5D2EF9-114B-4061-96B6-34100A9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D194F-725D-4472-822E-849B351D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2907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Explained by: Freedom to make life choices: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0A57B-A1FE-4A6B-9305-C50F7850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B47E2-C256-4E6D-87BF-D16A6D4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40055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Explained by: Perceptions of corruption: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B5213-F861-44A3-AD68-E9B2424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2EA81-BD88-4091-BB23-4CDD61B4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7202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Dystopia + residual: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73206-FC14-4C03-A39F-3222214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Correlations use pairwise complete rows. Means use available observations. No rows or outliers were removed.</a:t>
            </a:r>
          </a:p>
        </p:txBody>
      </p:sp>
    </p:spTree>
    <p:extLst>
      <p:ext uri="{BB962C8B-B14F-4D97-AF65-F5344CB8AC3E}">
        <p14:creationId xmlns:p14="http://schemas.microsoft.com/office/powerpoint/2010/main" val="1814064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7740C7-96B3-4E5D-9AB5-96B28BE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7300-8B01-43E1-8238-923F33D6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Tools and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71128-2D3B-4489-B1A6-720C2FFE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BAFBE-C445-4A2A-8C8E-60EC0EA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AF39F-03B9-4D5A-A662-0C82133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15"/>
          </a:bodyPr>
          <a:lstStyle xmlns:a="http://schemas.openxmlformats.org/drawingml/2006/main">
            <a:defPPr algn="l">
              <a:defRPr sz="18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The workflow keeps source loading, validation, statistics, charts, and dashboard transformations reusable.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1039-C518-4E0A-92E3-744B0CCC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4CD88-7133-4EBB-B028-9742FAB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Python 3.12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E3042-4F8C-465A-8D57-9D0EC09C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F140B-0F6B-4ECE-B839-88E08E2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752B0-F63A-47CA-A68C-BDDC5B76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654A5-19EF-4F6C-92B9-96CB1DA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71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pandas + NumPy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9D706-DD23-4EF6-86EA-92EA8125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99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Load, validate, transform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75696-C174-482C-A1C1-B271E611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EAE05-74C1-4ADB-B89A-0AB3CD7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FA8D5-9616-4C97-B63A-A60BAC3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SciPy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082E1-250D-491B-8B19-AC064B3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576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Pearson and Spearman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65267-93FF-498B-BB9F-B5D5CBF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E2305-5A10-40EC-A3D6-29BCC780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764A6-6E11-40EA-8E15-4E4B3EAE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Matplotlib + Seaborn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3465F-AF87-47DC-956E-5AE6FDC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053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Static analysis figures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79B30-E6BC-43DA-B60F-F84E09F3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C2C18-6698-45CD-86B3-7EA175F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94042-94BA-4FA4-B1FD-7FE0ABB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14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Streamlit + Plotly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72EFA-A17C-44E7-85F9-E7D675D3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Interactive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CF76E-3FEA-4A68-926D-BC7BD615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E2BA3-A0B0-4841-8931-9F90138C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Pearson measures linear association. Spearman measures rank-based monotonic association. Both report p-values and pairwise sample sizes.</a:t>
            </a:r>
          </a:p>
        </p:txBody>
      </p:sp>
    </p:spTree>
    <p:extLst>
      <p:ext uri="{BB962C8B-B14F-4D97-AF65-F5344CB8AC3E}">
        <p14:creationId xmlns:p14="http://schemas.microsoft.com/office/powerpoint/2010/main" val="12191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57DCE-7EFD-46BA-B705-96B2283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6682B-6A28-4DDC-998E-33224A2A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Country rankings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EEEFE-ED56-4F0F-A8F7-9C3ADCE6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FC3C-AA0D-4EEB-991A-F61132A3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303C2-137D-46CE-890F-FDAEC2BD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84B"/>
                </a:solidFill>
                <a:latin typeface="Arial"/>
                <a:ea typeface="Arial"/>
                <a:cs typeface="Arial"/>
              </a:rPr>
              <a:t>Highest: Finland 7.736     Lowest: Afghanistan 1.364     Gap: 6.372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A227ECF-298C-4737-AD4C-E5B064E619A1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527685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892566ef4148af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737EFEE-C184-48EE-AB75-1797349A886E}"/>
              </a:ext>
            </a:extLst>
          </p:cNvPr>
          <p:cNvGraphicFramePr/>
          <p:nvPr/>
        </p:nvGraphicFramePr>
        <p:xfrm>
          <a:off xmlns:a="http://schemas.openxmlformats.org/drawingml/2006/main" x="6153150" y="2019300"/>
          <a:ext xmlns:a="http://schemas.openxmlformats.org/drawingml/2006/main" cx="53721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a20e64610c473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2BB3F-03A9-4928-9A49-281B5028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Ladder score is the life-evaluation measure used to order countries. The list reports values from the supplied workbook.</a:t>
            </a:r>
          </a:p>
        </p:txBody>
      </p:sp>
    </p:spTree>
    <p:extLst>
      <p:ext uri="{BB962C8B-B14F-4D97-AF65-F5344CB8AC3E}">
        <p14:creationId xmlns:p14="http://schemas.microsoft.com/office/powerpoint/2010/main" val="1123641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CB2C2-91EE-48FD-BD51-3059184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EEF17-A937-4DB5-AD17-02DE5F11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Finland and India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B7821-0650-4A82-BF74-2F16E84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F15FB-17BB-42DC-862F-264722E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1F885-2A9B-46BF-B4BE-4962E1BE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FINLAND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4D283-2096-43F8-B557-A8114ED7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INDIA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79207-726D-4E79-9D82-C91FE1A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48F16-F57E-4021-9E08-86373771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9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#118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C6718-BD2F-4205-AABA-E8152C74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84B"/>
                </a:solidFill>
                <a:latin typeface="Arial"/>
                <a:ea typeface="Arial"/>
                <a:cs typeface="Arial"/>
              </a:rPr>
              <a:t>7.736 Ladder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C0721-AEDF-4FB1-AD52-2F75649B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00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84B"/>
                </a:solidFill>
                <a:latin typeface="Arial"/>
                <a:ea typeface="Arial"/>
                <a:cs typeface="Arial"/>
              </a:rPr>
              <a:t>4.389 Ladder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089F9-BF85-4439-8CEA-C6AE683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B2EAF-BD4C-4C9B-95D6-6B20FD3C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Score difference: 3.347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72168-590C-409B-9ADD-06F7B8D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Both ranks and scores are recalculated from the supplied Ladder score column.</a:t>
            </a:r>
          </a:p>
        </p:txBody>
      </p:sp>
    </p:spTree>
    <p:extLst>
      <p:ext uri="{BB962C8B-B14F-4D97-AF65-F5344CB8AC3E}">
        <p14:creationId xmlns:p14="http://schemas.microsoft.com/office/powerpoint/2010/main" val="1175582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2F8C3-BD90-4A7A-BE74-FDDF8E14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66293-3315-45DF-9066-4AB04E77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Correlation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AF062-66C3-40A7-A969-B7921479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E5B9B-9B3C-4EA6-A2EB-30C02957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8B301-5D32-4446-B732-39B190B3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Correlation heatmap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B9BFB-1111-4DD3-B476-2A16F380B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d3acdf3c744da"/>
          <a:stretch xmlns:a="http://schemas.openxmlformats.org/drawingml/2006/main"/>
        </p:blipFill>
        <p:spPr>
          <a:xfrm xmlns:a="http://schemas.openxmlformats.org/drawingml/2006/main">
            <a:off x="1076325" y="2019300"/>
            <a:ext cx="4400550" cy="3600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66AEC-3FF9-4D28-8203-A82CE5AE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STATISTICAL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EE4E9-613A-49AD-A27E-AF087B76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Social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1DD27-4E61-4D5E-8366-3A11D59D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Pearson r=0.812  p=9.636e-36  n=147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667E-9355-427C-9AE4-950D3FA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Spearman ρ=0.811  p=1.490e-35  n=147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452B5-5985-43EB-9227-6EA9FAA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GDP per capita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211C3-2E3E-477B-B2FD-DFDDB71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Pearson r=0.763  p=2.675e-29  n=147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2EF2B-D6F9-4315-87D0-FA020998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7657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Spearman ρ=0.810  p=1.925e-35  n=147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3B14D-CC07-4B75-BFA1-C20A425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Healthy life expectancy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0BC7B-E99C-4851-96B4-7E048737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Pearson r=0.712  p=7.387e-24  n=146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23AF9-E463-402D-936B-3ABC77CF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Spearman ρ=0.725  p=4.466e-25  n=146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F2E6C-469F-40DE-8A63-B04FD2BA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Freedom to make life choices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EE512-38DB-42FB-B112-5C2BF96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Pearson r=0.634  p=8.196e-18  n=146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EF45A-E0EE-478B-88DF-2BF4637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Spearman ρ=0.620  p=7.302e-17  n=146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441BA-24E3-4D36-AF70-7205D75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Perceptions of corruption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A2D75-72EE-4969-9D98-2DF2696F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Pearson r=0.412  p=2.303e-7  n=146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859B3-65FF-4342-B926-75D26255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6252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Spearman ρ=0.370  p=4.425e-6  n=146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D9E14-F807-45AC-8C42-3B587091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00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Generosity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A9C02-9237-4D78-8958-D825867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972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Pearson r=0.054  p=0.5132  n=147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DAD4E-87EE-46F8-A0B7-19898EF4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91175"/>
            <a:ext cx="500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Spearman ρ=0.099  p=0.2345  n=147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728D2-0790-4B03-B730-DE22014D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Strongest positive Pearson association: Social support, r=0.812.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6962A-8A93-4E95-A264-A0DF15A0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No negative Pearson coefficients were observed among valid results. Weakest absolute Pearson association: Generosity, r=0.054.</a:t>
            </a:r>
          </a:p>
        </p:txBody>
      </p:sp>
    </p:spTree>
    <p:extLst>
      <p:ext uri="{BB962C8B-B14F-4D97-AF65-F5344CB8AC3E}">
        <p14:creationId xmlns:p14="http://schemas.microsoft.com/office/powerpoint/2010/main" val="1350115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DA0C5-4AA0-47F2-A097-B8ECF63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27F84-5987-47A6-BECF-F63BDB8E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Top 10 versus bottom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227FB-DBB0-4747-B02D-0EF52078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8B569-BE3D-42F7-8179-D274CBD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7C4C331-0FE7-45FE-8E05-C63F1F2D29F6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07aeed768246b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315DC-66E5-418B-B6E9-D06AB58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FACTOR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1FEDA-297F-4CE4-8850-88FF526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TOP − BOTTOM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77119-127D-47CD-8C2A-6A18CA3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19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GDP per capita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73DC0-7EDE-43D7-AE21-95CCDFA3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2920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0.932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302C3-E097-443E-B22A-F98BD7DC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619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Social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7F29B-CF1E-4999-B5EC-BBAB1137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292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0.854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E879E-D478-44EC-ACA4-E814752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619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Healthy life expectancy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7C93E-5185-47F8-84C0-9D71CB8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292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0.548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B5828-640D-440D-8FF7-DA3921BC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619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Freedom to make life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4B15B-D545-407F-8A18-3D8FD91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2927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0.441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EA0E8-62C5-46E2-9EEB-C6130D89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619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Generosity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7AD6A-53F9-4F7E-AEA0-2E1BA255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2930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0.049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4FE33-AD2D-40F7-B3D4-27849C6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9325"/>
            <a:ext cx="619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Perceptions of corruption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6E6A0-F114-43F9-BC93-B93EB53B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0293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0.224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FDAB0-7D6A-4A77-81B4-62A21A2A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486"/>
                </a:solidFill>
                <a:latin typeface="Arial"/>
                <a:ea typeface="Arial"/>
                <a:cs typeface="Arial"/>
              </a:rPr>
              <a:t>Bars show both group means; the table adds only the top-minus-bottom difference. Percent differences are omitted because component ratios are not meaningful.</a:t>
            </a:r>
          </a:p>
        </p:txBody>
      </p:sp>
    </p:spTree>
    <p:extLst>
      <p:ext uri="{BB962C8B-B14F-4D97-AF65-F5344CB8AC3E}">
        <p14:creationId xmlns:p14="http://schemas.microsoft.com/office/powerpoint/2010/main" val="6909863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EE964-B398-4FAB-B4AD-87739836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12550-131F-4507-8A5C-889F173C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Interactive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85C5C-8995-4833-BEB6-4D612C81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1BC6E-06BA-4BAC-8981-BCA72FFA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8B73A-815F-4B02-A9B0-E4CD682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A local Streamlit application loads and validates the same supplied workbook at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7D54D-FD05-48DB-BB48-2F267572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RANKINGS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692EF-B7A9-4F4D-B822-2E53925A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Search country names, sort the table, filter the score range, and switch between all countries, top 10, and bottom 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35DF8-BB54-4ED4-9E63-DEBC6E41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RELATIONSHIPS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5E5E5-3B31-4BAA-856A-F86CF731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Choose any of six factors for a scatter plot. Switch the heatmap between Pearson and Spearman.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BEC70-108A-4133-90A6-751B042C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6E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6E50"/>
                </a:solidFill>
                <a:latin typeface="Arial"/>
                <a:ea typeface="Arial"/>
                <a:cs typeface="Arial"/>
              </a:rPr>
              <a:t>COUNTRY DETAIL AND DATA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BA43-D6DF-4DB8-A0A9-4CE0872B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View country rank, score, component values, and dataset-average differences. Missingness and outlier summaries are available; missing values remain blank.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34C13-9A0B-4E96-BFB1-7A5068AA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52197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8E53E-42A2-4C3E-BE11-B37AD131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64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GENUINE DASHBOARD SCREENSHOT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E760B-9A20-42C6-B45B-EED67F8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SCREENSHOT 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67A9F-6606-4DA9-AB99-9C0F051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457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After running Streamlit, capture a real browser screenshot and replace this panel. No screenshot is embedded until a genuine capture is 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5B76F-9E3A-41CB-891F-BBCF8F01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Dashboard verified in Streamlit AppTest and launched locally.</a:t>
            </a:r>
          </a:p>
        </p:txBody>
      </p:sp>
    </p:spTree>
    <p:extLst>
      <p:ext uri="{BB962C8B-B14F-4D97-AF65-F5344CB8AC3E}">
        <p14:creationId xmlns:p14="http://schemas.microsoft.com/office/powerpoint/2010/main" val="1925230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D52CB-6595-492B-B34A-5B66A52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47D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D78"/>
                </a:solidFill>
                <a:latin typeface="Arial"/>
                <a:ea typeface="Arial"/>
                <a:cs typeface="Arial"/>
              </a:rPr>
              <a:t>GLOBAL HAPPINESS 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321CF-5283-47FB-B97F-E30B755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32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A"/>
                </a:solidFill>
                <a:latin typeface="Arial"/>
                <a:ea typeface="Arial"/>
                <a:cs typeface="Arial"/>
              </a:rPr>
              <a:t>What the results can and cannot say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2F36B-579B-412B-ACB4-7AFA8C5C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5F24A-71AF-430D-9771-C04DFD07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B623D-FEC1-4107-A50C-CF8DF559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9DFA8-15AC-4C6E-8C75-CA9B5633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Strongest positive Pearson association: Social support, r=0.812.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941B5-3008-4DBB-9133-41708A25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3B376-D264-46F2-A58B-8B06E9C5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No negative Pearson coefficients were observed among valid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3863E-DB72-40BD-8B48-C86A7F4F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220CF-FCF6-48E7-81E0-981D4D57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Weakest absolute Pearson association: Generosity, r=0.054.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E7865-A59D-427C-993B-32CB6A60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2839E-973C-40E0-9E8D-A5D25061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242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Top-10 averages exceed bottom-10 averages across the six available components.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5861C-1D43-4799-A0A6-5798F9F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93CD2-06B7-47AD-90FA-6A91DE7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957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These are country-level associations and report decomposition values, not causal effects.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28724-52FF-49D4-A55A-2CA57E6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9698F-3ABB-40E8-91FC-9274EB5A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6725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The workbook provides no region, income category, or annual country series.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4F288-0D7A-45A8-B380-994A88DB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074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486"/>
                </a:solidFill>
                <a:latin typeface="Arial"/>
                <a:ea typeface="Arial"/>
                <a:cs typeface="Arial"/>
              </a:rPr>
              <a:t>The report ranking is a multi-year country summary. It cannot support within-country change analysis or explain why an individual is happier.</a:t>
            </a:r>
          </a:p>
        </p:txBody>
      </p:sp>
    </p:spTree>
    <p:extLst>
      <p:ext uri="{BB962C8B-B14F-4D97-AF65-F5344CB8AC3E}">
        <p14:creationId xmlns:p14="http://schemas.microsoft.com/office/powerpoint/2010/main" val="384575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FF7E8-BCD7-44B7-824F-F90BFB7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HAPPINESS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INSIGHTS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37EC-3495-421C-9CB2-4817E64A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D6D5B-6EC7-499A-B3D5-CF5B740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E6EE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E6EEF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6EEF1"/>
                </a:solidFill>
                <a:latin typeface="Arial"/>
                <a:ea typeface="Arial"/>
                <a:cs typeface="Arial"/>
              </a:rPr>
              <a:t>Finland leads with 7.736. Afghanistan ranks last with 1.364.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89696-18B0-440F-AAD0-255A8A06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9CB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9CB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9CBD3"/>
                </a:solidFill>
                <a:latin typeface="Arial"/>
                <a:ea typeface="Arial"/>
                <a:cs typeface="Arial"/>
              </a:rPr>
              <a:t>Finland: rank 1, 7.736     India: rank 118, 4.389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F482-521B-4C69-9590-AEB76BC3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C1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C1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C1B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FFC5D-527E-48EB-8290-CC81B69A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reliable regional or income metadata for grouped comparisons. Use additional years to study trends. Keep this project’s analysis distinct from the original internship 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2B812-0D46-44F9-8A36-DB8E71B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9CB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9CBD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CBD3"/>
                </a:solidFill>
                <a:latin typeface="Arial"/>
                <a:ea typeface="Arial"/>
                <a:cs typeface="Arial"/>
              </a:rPr>
              <a:t>Reconstructed project results · source workbook preserved unchanged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3F917-3A55-4E10-8551-F750C4F7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9CB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9CB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BD3"/>
                </a:solidFill>
                <a:latin typeface="Arial"/>
                <a:ea typeface="Arial"/>
                <a:cs typeface="Arial"/>
              </a:rPr>
              <a:t>Repository: [add URL after publication]  ·  Author: [add name]</a:t>
            </a:r>
          </a:p>
        </p:txBody>
      </p:sp>
    </p:spTree>
    <p:extLst>
      <p:ext uri="{BB962C8B-B14F-4D97-AF65-F5344CB8AC3E}">
        <p14:creationId xmlns:p14="http://schemas.microsoft.com/office/powerpoint/2010/main" val="1191120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2026-10-15T10:48:38.8580000Z</dcterms:created>
  <dcterms:modified xsi:type="dcterms:W3CDTF">2026-10-15T10:48:38.8580000Z</dcterms:modified>
</coreProperties>
</file>